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Dela Gothic One" panose="020B0604020202020204" charset="-128"/>
      <p:regular r:id="rId11"/>
    </p:embeddedFont>
    <p:embeddedFont>
      <p:font typeface="DM Sans" pitchFamily="2" charset="0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393D6-1987-4250-B61D-492BDC499C81}" v="88" dt="2026-07-01T23:29:18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82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3.png"/><Relationship Id="rId11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12" Type="http://schemas.openxmlformats.org/officeDocument/2006/relationships/image" Target="../media/image6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2.svg"/><Relationship Id="rId11" Type="http://schemas.openxmlformats.org/officeDocument/2006/relationships/image" Target="../media/image25.png"/><Relationship Id="rId5" Type="http://schemas.openxmlformats.org/officeDocument/2006/relationships/image" Target="../media/image21.svg"/><Relationship Id="rId10" Type="http://schemas.openxmlformats.org/officeDocument/2006/relationships/image" Target="../media/image24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8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542C4FB2-445B-FF5E-588F-E2B5958DCC7D}"/>
              </a:ext>
            </a:extLst>
          </p:cNvPr>
          <p:cNvSpPr/>
          <p:nvPr/>
        </p:nvSpPr>
        <p:spPr>
          <a:xfrm>
            <a:off x="117776" y="161901"/>
            <a:ext cx="3860800" cy="4737657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0735CD0-8C95-26C1-9338-D073F74E4BEA}"/>
              </a:ext>
            </a:extLst>
          </p:cNvPr>
          <p:cNvSpPr/>
          <p:nvPr/>
        </p:nvSpPr>
        <p:spPr>
          <a:xfrm>
            <a:off x="4461015" y="195512"/>
            <a:ext cx="3341865" cy="924497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Text 0"/>
          <p:cNvSpPr/>
          <p:nvPr/>
        </p:nvSpPr>
        <p:spPr>
          <a:xfrm>
            <a:off x="4664943" y="195513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8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Proyecto Web Institucional</a:t>
            </a:r>
            <a:endParaRPr lang="es-AR" sz="2800" noProof="0" dirty="0"/>
          </a:p>
        </p:txBody>
      </p:sp>
      <p:sp>
        <p:nvSpPr>
          <p:cNvPr id="4" name="Text 1"/>
          <p:cNvSpPr/>
          <p:nvPr/>
        </p:nvSpPr>
        <p:spPr>
          <a:xfrm>
            <a:off x="4134591" y="1225442"/>
            <a:ext cx="4767114" cy="338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s-AR" sz="20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Tecnicatura Superior en Ciencia de Datos e Inteligencia Artificial</a:t>
            </a:r>
            <a:endParaRPr lang="es-AR" sz="2000" b="1" noProof="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s-AR" sz="16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Materia: Modelizado de Sistemas de IA  </a:t>
            </a:r>
          </a:p>
          <a:p>
            <a:pPr marL="0" indent="0" algn="l">
              <a:lnSpc>
                <a:spcPct val="133000"/>
              </a:lnSpc>
              <a:buNone/>
            </a:pPr>
            <a:endParaRPr lang="es-AR" sz="1600" b="1" noProof="0" dirty="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Profesor:</a:t>
            </a:r>
            <a:r>
              <a:rPr lang="es-AR" sz="14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Agustín Bustos</a:t>
            </a:r>
            <a:endParaRPr lang="es-AR" sz="1400" b="1" noProof="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Integrantes:</a:t>
            </a:r>
          </a:p>
          <a:p>
            <a:pPr>
              <a:lnSpc>
                <a:spcPct val="133000"/>
              </a:lnSpc>
            </a:pPr>
            <a:r>
              <a:rPr lang="es-AR" sz="14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</a:t>
            </a: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Areco Solange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</a:t>
            </a: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Lencina Milagros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</a:t>
            </a: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Ponce Ignacio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· </a:t>
            </a:r>
            <a:r>
              <a:rPr lang="es-AR" sz="14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Ruiz Lucas</a:t>
            </a:r>
            <a:endParaRPr lang="es-AR" sz="1400" b="1" noProof="0" dirty="0"/>
          </a:p>
        </p:txBody>
      </p:sp>
      <p:sp>
        <p:nvSpPr>
          <p:cNvPr id="5" name="Shape 2"/>
          <p:cNvSpPr/>
          <p:nvPr/>
        </p:nvSpPr>
        <p:spPr>
          <a:xfrm>
            <a:off x="5454129" y="4692636"/>
            <a:ext cx="1308125" cy="254422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3"/>
          <p:cNvSpPr/>
          <p:nvPr/>
        </p:nvSpPr>
        <p:spPr>
          <a:xfrm>
            <a:off x="5532513" y="4726248"/>
            <a:ext cx="1602953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8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ENTREGA: 0</a:t>
            </a:r>
            <a:r>
              <a:rPr lang="es-AR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r>
              <a:rPr lang="es-AR" sz="8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/07/2026</a:t>
            </a:r>
            <a:endParaRPr lang="es-AR" sz="850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2F33977-4EB7-8388-5051-2403FAAD5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44" y="571761"/>
            <a:ext cx="3244472" cy="39999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3A357C6-5FBE-D181-FC7F-14A4DF63CE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178" y="4726248"/>
            <a:ext cx="1409822" cy="365792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27B4ADB9-A55F-B409-5431-9CEE6346D4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52"/>
    </mc:Choice>
    <mc:Fallback xmlns="">
      <p:transition spd="slow" advTm="195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FB1D5029-DA4B-7B56-90CB-417F93B0DF04}"/>
              </a:ext>
            </a:extLst>
          </p:cNvPr>
          <p:cNvSpPr/>
          <p:nvPr/>
        </p:nvSpPr>
        <p:spPr>
          <a:xfrm>
            <a:off x="4008070" y="827386"/>
            <a:ext cx="5066229" cy="3673368"/>
          </a:xfrm>
          <a:prstGeom prst="roundRect">
            <a:avLst>
              <a:gd name="adj" fmla="val 72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" name="Text 0"/>
          <p:cNvSpPr/>
          <p:nvPr/>
        </p:nvSpPr>
        <p:spPr>
          <a:xfrm>
            <a:off x="1168886" y="78287"/>
            <a:ext cx="5579385" cy="55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s-AR" sz="26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Introducción y Objetivos</a:t>
            </a:r>
            <a:endParaRPr lang="es-AR" sz="2600" noProof="0" dirty="0"/>
          </a:p>
          <a:p>
            <a:pPr marL="0" indent="0" algn="l">
              <a:lnSpc>
                <a:spcPct val="104000"/>
              </a:lnSpc>
              <a:buNone/>
            </a:pPr>
            <a:endParaRPr lang="es-AR" sz="2600" noProof="0" dirty="0">
              <a:solidFill>
                <a:srgbClr val="FAEBEB"/>
              </a:solidFill>
              <a:latin typeface="Dela Gothic One" pitchFamily="34" charset="0"/>
              <a:ea typeface="Dela Gothic One" pitchFamily="34" charset="-122"/>
              <a:cs typeface="Dela Gothic One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5785" y="1078572"/>
            <a:ext cx="3704084" cy="707202"/>
          </a:xfrm>
          <a:prstGeom prst="roundRect">
            <a:avLst>
              <a:gd name="adj" fmla="val 72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2"/>
          <p:cNvSpPr/>
          <p:nvPr/>
        </p:nvSpPr>
        <p:spPr>
          <a:xfrm>
            <a:off x="800573" y="1100390"/>
            <a:ext cx="1791146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Sitio Institucional</a:t>
            </a:r>
            <a:endParaRPr lang="es-AR" sz="1300" noProof="0" dirty="0"/>
          </a:p>
        </p:txBody>
      </p:sp>
      <p:sp>
        <p:nvSpPr>
          <p:cNvPr id="6" name="Text 3"/>
          <p:cNvSpPr/>
          <p:nvPr/>
        </p:nvSpPr>
        <p:spPr>
          <a:xfrm>
            <a:off x="166146" y="1498060"/>
            <a:ext cx="3641849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Desarrollo de un sitio web institucional completo y funcional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</p:txBody>
      </p:sp>
      <p:sp>
        <p:nvSpPr>
          <p:cNvPr id="7" name="Shape 4"/>
          <p:cNvSpPr/>
          <p:nvPr/>
        </p:nvSpPr>
        <p:spPr>
          <a:xfrm>
            <a:off x="55785" y="2073014"/>
            <a:ext cx="3704084" cy="692636"/>
          </a:xfrm>
          <a:prstGeom prst="roundRect">
            <a:avLst>
              <a:gd name="adj" fmla="val 72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5"/>
          <p:cNvSpPr/>
          <p:nvPr/>
        </p:nvSpPr>
        <p:spPr>
          <a:xfrm>
            <a:off x="740930" y="2113634"/>
            <a:ext cx="221910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WordPress como CMS</a:t>
            </a:r>
            <a:endParaRPr lang="es-AR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166146" y="2325082"/>
            <a:ext cx="3593722" cy="332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de WordPress como gestor de contenidos principal del </a:t>
            </a:r>
          </a:p>
          <a:p>
            <a:pPr>
              <a:lnSpc>
                <a:spcPct val="129000"/>
              </a:lnSpc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0" indent="0" algn="l">
              <a:lnSpc>
                <a:spcPct val="129000"/>
              </a:lnSpc>
              <a:buNone/>
            </a:pP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endParaRPr lang="es-AR" sz="950" noProof="0" dirty="0"/>
          </a:p>
        </p:txBody>
      </p:sp>
      <p:sp>
        <p:nvSpPr>
          <p:cNvPr id="10" name="Shape 7"/>
          <p:cNvSpPr/>
          <p:nvPr/>
        </p:nvSpPr>
        <p:spPr>
          <a:xfrm>
            <a:off x="46946" y="3032004"/>
            <a:ext cx="3712923" cy="509637"/>
          </a:xfrm>
          <a:prstGeom prst="roundRect">
            <a:avLst>
              <a:gd name="adj" fmla="val 72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8"/>
          <p:cNvSpPr/>
          <p:nvPr/>
        </p:nvSpPr>
        <p:spPr>
          <a:xfrm>
            <a:off x="712289" y="3056464"/>
            <a:ext cx="1769269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Dominio y Hosting</a:t>
            </a:r>
            <a:endParaRPr lang="es-AR" sz="1300" noProof="0" dirty="0"/>
          </a:p>
        </p:txBody>
      </p:sp>
      <p:sp>
        <p:nvSpPr>
          <p:cNvPr id="12" name="Text 9"/>
          <p:cNvSpPr/>
          <p:nvPr/>
        </p:nvSpPr>
        <p:spPr>
          <a:xfrm>
            <a:off x="112783" y="3293531"/>
            <a:ext cx="3695212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Publicación mediante dominio propio y servicio de hosting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  <a:p>
            <a:pPr marL="0" indent="0" algn="l">
              <a:lnSpc>
                <a:spcPct val="129000"/>
              </a:lnSpc>
              <a:buNone/>
            </a:pPr>
            <a:endParaRPr lang="es-AR" sz="950" noProof="0" dirty="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5785" y="3807995"/>
            <a:ext cx="3704084" cy="728525"/>
          </a:xfrm>
          <a:prstGeom prst="roundRect">
            <a:avLst>
              <a:gd name="adj" fmla="val 7202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1"/>
          <p:cNvSpPr/>
          <p:nvPr/>
        </p:nvSpPr>
        <p:spPr>
          <a:xfrm>
            <a:off x="712289" y="3856122"/>
            <a:ext cx="2340694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Herramientas Externas</a:t>
            </a:r>
            <a:endParaRPr lang="es-AR" sz="1300" noProof="0" dirty="0"/>
          </a:p>
        </p:txBody>
      </p:sp>
      <p:sp>
        <p:nvSpPr>
          <p:cNvPr id="15" name="Text 12"/>
          <p:cNvSpPr/>
          <p:nvPr/>
        </p:nvSpPr>
        <p:spPr>
          <a:xfrm>
            <a:off x="112783" y="4064928"/>
            <a:ext cx="3262075" cy="398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de herramientas externas para ampliar </a:t>
            </a:r>
          </a:p>
          <a:p>
            <a:pPr>
              <a:lnSpc>
                <a:spcPct val="129000"/>
              </a:lnSpc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  <a:p>
            <a:pPr marL="0" indent="0" algn="l">
              <a:lnSpc>
                <a:spcPct val="129000"/>
              </a:lnSpc>
              <a:buNone/>
            </a:pPr>
            <a:endParaRPr lang="es-AR" sz="950" noProof="0" dirty="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2A0A3B4-6BC0-D6B4-5ED4-06E18F0C2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867" y="982518"/>
            <a:ext cx="2388268" cy="160651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60E3258-5000-5B71-AFE7-632D0DDAB0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516" y="989311"/>
            <a:ext cx="2388268" cy="159971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8819BB2-A1EC-EBC8-F615-87658DF7682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916" y="2682587"/>
            <a:ext cx="2388268" cy="160651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1EAAC74-648C-E957-F88B-B17EA9657F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0404" y="4566758"/>
            <a:ext cx="1828958" cy="54106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4B60381-20BF-9B5D-60C6-684AC4FFCF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516" y="2682587"/>
            <a:ext cx="2388268" cy="1643809"/>
          </a:xfrm>
          <a:prstGeom prst="rect">
            <a:avLst/>
          </a:prstGeom>
        </p:spPr>
      </p:pic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6442155A-8ADC-AD18-5C5A-E51A7CA1B2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92"/>
    </mc:Choice>
    <mc:Fallback xmlns="">
      <p:transition spd="slow" advTm="216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2">
            <a:extLst>
              <a:ext uri="{FF2B5EF4-FFF2-40B4-BE49-F238E27FC236}">
                <a16:creationId xmlns:a16="http://schemas.microsoft.com/office/drawing/2014/main" id="{B775D9BE-2289-8C1A-C02A-3EC8FCB1E833}"/>
              </a:ext>
            </a:extLst>
          </p:cNvPr>
          <p:cNvSpPr/>
          <p:nvPr/>
        </p:nvSpPr>
        <p:spPr>
          <a:xfrm>
            <a:off x="5158567" y="3318656"/>
            <a:ext cx="1116426" cy="902926"/>
          </a:xfrm>
          <a:prstGeom prst="roundRect">
            <a:avLst>
              <a:gd name="adj" fmla="val 1788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A815EC9B-B9DD-9621-67D4-5771BF2FF4EF}"/>
              </a:ext>
            </a:extLst>
          </p:cNvPr>
          <p:cNvSpPr/>
          <p:nvPr/>
        </p:nvSpPr>
        <p:spPr>
          <a:xfrm>
            <a:off x="750753" y="1313085"/>
            <a:ext cx="1219200" cy="907606"/>
          </a:xfrm>
          <a:prstGeom prst="roundRect">
            <a:avLst>
              <a:gd name="adj" fmla="val 1788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FD0090CE-8752-7A76-5008-5F665C07680D}"/>
              </a:ext>
            </a:extLst>
          </p:cNvPr>
          <p:cNvSpPr/>
          <p:nvPr/>
        </p:nvSpPr>
        <p:spPr>
          <a:xfrm>
            <a:off x="3391930" y="1481207"/>
            <a:ext cx="1219200" cy="790678"/>
          </a:xfrm>
          <a:prstGeom prst="roundRect">
            <a:avLst>
              <a:gd name="adj" fmla="val 1788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EB3CF27D-E65E-B150-5739-74E1E330F209}"/>
              </a:ext>
            </a:extLst>
          </p:cNvPr>
          <p:cNvSpPr/>
          <p:nvPr/>
        </p:nvSpPr>
        <p:spPr>
          <a:xfrm>
            <a:off x="1802731" y="3639065"/>
            <a:ext cx="1718945" cy="577318"/>
          </a:xfrm>
          <a:prstGeom prst="roundRect">
            <a:avLst>
              <a:gd name="adj" fmla="val 1788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D71C294-59E8-C5FA-18A0-0CE23A290C1F}"/>
              </a:ext>
            </a:extLst>
          </p:cNvPr>
          <p:cNvSpPr/>
          <p:nvPr/>
        </p:nvSpPr>
        <p:spPr>
          <a:xfrm>
            <a:off x="2912628" y="2318795"/>
            <a:ext cx="1985264" cy="77597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DE7277E6-0824-C1F1-40E1-BB7A4E6B96DD}"/>
              </a:ext>
            </a:extLst>
          </p:cNvPr>
          <p:cNvSpPr/>
          <p:nvPr/>
        </p:nvSpPr>
        <p:spPr>
          <a:xfrm>
            <a:off x="5611450" y="2311132"/>
            <a:ext cx="2087904" cy="77597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AEC1404A-3D6C-F3BB-5EDB-A56B70A31349}"/>
              </a:ext>
            </a:extLst>
          </p:cNvPr>
          <p:cNvSpPr/>
          <p:nvPr/>
        </p:nvSpPr>
        <p:spPr>
          <a:xfrm>
            <a:off x="4562597" y="4249490"/>
            <a:ext cx="2249090" cy="77597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9A0FAD10-933E-D1EB-54BB-86C6CFF9618F}"/>
              </a:ext>
            </a:extLst>
          </p:cNvPr>
          <p:cNvSpPr/>
          <p:nvPr/>
        </p:nvSpPr>
        <p:spPr>
          <a:xfrm>
            <a:off x="1626365" y="4290332"/>
            <a:ext cx="1985264" cy="77597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A81A0A3A-EEDE-D46E-3B15-AC1EAFEA95C1}"/>
              </a:ext>
            </a:extLst>
          </p:cNvPr>
          <p:cNvSpPr/>
          <p:nvPr/>
        </p:nvSpPr>
        <p:spPr>
          <a:xfrm>
            <a:off x="366751" y="2311132"/>
            <a:ext cx="1985264" cy="77597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" name="Text 0"/>
          <p:cNvSpPr/>
          <p:nvPr/>
        </p:nvSpPr>
        <p:spPr>
          <a:xfrm>
            <a:off x="473943" y="392237"/>
            <a:ext cx="5007397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75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Entorno de Desarrollo</a:t>
            </a:r>
            <a:endParaRPr lang="es-AR" sz="2750" noProof="0" dirty="0"/>
          </a:p>
        </p:txBody>
      </p:sp>
      <p:sp>
        <p:nvSpPr>
          <p:cNvPr id="3" name="Text 1"/>
          <p:cNvSpPr/>
          <p:nvPr/>
        </p:nvSpPr>
        <p:spPr>
          <a:xfrm>
            <a:off x="427132" y="910989"/>
            <a:ext cx="8653314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Herramientas utilizadas para el desarrollo, gestión de código y despliegue del sitio</a:t>
            </a:r>
            <a:r>
              <a:rPr lang="es-AR" sz="10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1000" noProof="0" dirty="0"/>
          </a:p>
        </p:txBody>
      </p:sp>
      <p:sp>
        <p:nvSpPr>
          <p:cNvPr id="5" name="Text 2"/>
          <p:cNvSpPr/>
          <p:nvPr/>
        </p:nvSpPr>
        <p:spPr>
          <a:xfrm>
            <a:off x="718946" y="2348767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50" noProof="0" dirty="0" err="1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LocalWP</a:t>
            </a:r>
            <a:endParaRPr lang="es-AR" sz="1350" noProof="0" dirty="0"/>
          </a:p>
        </p:txBody>
      </p:sp>
      <p:sp>
        <p:nvSpPr>
          <p:cNvPr id="6" name="Text 3"/>
          <p:cNvSpPr/>
          <p:nvPr/>
        </p:nvSpPr>
        <p:spPr>
          <a:xfrm>
            <a:off x="420196" y="2626905"/>
            <a:ext cx="1925985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s-AR" sz="10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Entorno de desarrollo local para WordPress.</a:t>
            </a:r>
            <a:endParaRPr lang="es-AR" sz="1000" b="1" noProof="0" dirty="0"/>
          </a:p>
        </p:txBody>
      </p:sp>
      <p:sp>
        <p:nvSpPr>
          <p:cNvPr id="8" name="Text 4"/>
          <p:cNvSpPr/>
          <p:nvPr/>
        </p:nvSpPr>
        <p:spPr>
          <a:xfrm>
            <a:off x="3172321" y="2375890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5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WordPress</a:t>
            </a:r>
            <a:endParaRPr lang="es-AR" sz="1350" noProof="0" dirty="0"/>
          </a:p>
        </p:txBody>
      </p:sp>
      <p:sp>
        <p:nvSpPr>
          <p:cNvPr id="9" name="Text 5"/>
          <p:cNvSpPr/>
          <p:nvPr/>
        </p:nvSpPr>
        <p:spPr>
          <a:xfrm>
            <a:off x="3055817" y="2699119"/>
            <a:ext cx="1926059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s-AR" sz="10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CMS principal del proyecto.</a:t>
            </a:r>
            <a:endParaRPr lang="es-AR" sz="1000" b="1" noProof="0" dirty="0"/>
          </a:p>
        </p:txBody>
      </p:sp>
      <p:sp>
        <p:nvSpPr>
          <p:cNvPr id="11" name="Text 6"/>
          <p:cNvSpPr/>
          <p:nvPr/>
        </p:nvSpPr>
        <p:spPr>
          <a:xfrm>
            <a:off x="5692410" y="2360614"/>
            <a:ext cx="1925985" cy="43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5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 Studio Code</a:t>
            </a:r>
            <a:endParaRPr lang="es-AR" sz="1350" noProof="0" dirty="0"/>
          </a:p>
        </p:txBody>
      </p:sp>
      <p:sp>
        <p:nvSpPr>
          <p:cNvPr id="12" name="Text 7"/>
          <p:cNvSpPr/>
          <p:nvPr/>
        </p:nvSpPr>
        <p:spPr>
          <a:xfrm>
            <a:off x="5854329" y="2620722"/>
            <a:ext cx="1925985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s-AR" sz="10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 de código para personalización del tema</a:t>
            </a:r>
            <a:r>
              <a:rPr lang="es-AR" sz="10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1000" noProof="0" dirty="0"/>
          </a:p>
        </p:txBody>
      </p:sp>
      <p:sp>
        <p:nvSpPr>
          <p:cNvPr id="14" name="Text 8"/>
          <p:cNvSpPr/>
          <p:nvPr/>
        </p:nvSpPr>
        <p:spPr>
          <a:xfrm>
            <a:off x="1969953" y="4355140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5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Git y GitHub</a:t>
            </a:r>
            <a:endParaRPr lang="es-AR" sz="1350" noProof="0" dirty="0"/>
          </a:p>
        </p:txBody>
      </p:sp>
      <p:sp>
        <p:nvSpPr>
          <p:cNvPr id="15" name="Text 9"/>
          <p:cNvSpPr/>
          <p:nvPr/>
        </p:nvSpPr>
        <p:spPr>
          <a:xfrm>
            <a:off x="1859734" y="4608776"/>
            <a:ext cx="1926059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s-AR" sz="10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de versiones y repositorio remoto.</a:t>
            </a:r>
            <a:endParaRPr lang="es-AR" sz="1000" b="1" noProof="0" dirty="0"/>
          </a:p>
        </p:txBody>
      </p:sp>
      <p:sp>
        <p:nvSpPr>
          <p:cNvPr id="17" name="Text 10"/>
          <p:cNvSpPr/>
          <p:nvPr/>
        </p:nvSpPr>
        <p:spPr>
          <a:xfrm>
            <a:off x="5057822" y="4340744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5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FileZilla</a:t>
            </a:r>
            <a:endParaRPr lang="es-AR" sz="1350" noProof="0" dirty="0"/>
          </a:p>
        </p:txBody>
      </p:sp>
      <p:sp>
        <p:nvSpPr>
          <p:cNvPr id="18" name="Text 11"/>
          <p:cNvSpPr/>
          <p:nvPr/>
        </p:nvSpPr>
        <p:spPr>
          <a:xfrm>
            <a:off x="4753789" y="4559968"/>
            <a:ext cx="1925985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s-AR" sz="10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FTP para transferencia de archivos al servidor.</a:t>
            </a:r>
            <a:endParaRPr lang="es-AR" sz="1000" b="1" noProof="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7D1A4B5B-29FC-B416-FA94-664D3959A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851" y="4539704"/>
            <a:ext cx="2141406" cy="54868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5CBEAE7B-B231-61C1-5481-51B75CA23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369" y="3448458"/>
            <a:ext cx="662822" cy="662822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1133E19D-2AA5-CBCF-9528-62EC7A500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405" y="3683811"/>
            <a:ext cx="1551525" cy="5487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ED81FC05-E7A3-9F6B-0C2D-7C4F41357E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2552" y="1143472"/>
            <a:ext cx="1245700" cy="124570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7044C2FA-2301-1020-3C46-FE6DD5FEED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397" y="1505999"/>
            <a:ext cx="1219200" cy="685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16B271-81E9-6F73-1A7D-2F7517001B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364" y="1342624"/>
            <a:ext cx="878067" cy="878067"/>
          </a:xfrm>
          <a:prstGeom prst="rect">
            <a:avLst/>
          </a:prstGeom>
        </p:spPr>
      </p:pic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AFC415AC-3B30-D5EF-9D75-F8F1AC9C59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71"/>
    </mc:Choice>
    <mc:Fallback xmlns="">
      <p:transition spd="slow" advTm="34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">
            <a:extLst>
              <a:ext uri="{FF2B5EF4-FFF2-40B4-BE49-F238E27FC236}">
                <a16:creationId xmlns:a16="http://schemas.microsoft.com/office/drawing/2014/main" id="{055635F8-3D4F-D982-E115-0300F01F90AE}"/>
              </a:ext>
            </a:extLst>
          </p:cNvPr>
          <p:cNvSpPr/>
          <p:nvPr/>
        </p:nvSpPr>
        <p:spPr>
          <a:xfrm>
            <a:off x="53611" y="777633"/>
            <a:ext cx="2799130" cy="1123215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5908C9E7-03FA-3904-ACD7-16FCF1E51C20}"/>
              </a:ext>
            </a:extLst>
          </p:cNvPr>
          <p:cNvSpPr/>
          <p:nvPr/>
        </p:nvSpPr>
        <p:spPr>
          <a:xfrm>
            <a:off x="3199685" y="845140"/>
            <a:ext cx="2813695" cy="906490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64F1CB3E-46C0-9D8C-74EE-90D4D93247A9}"/>
              </a:ext>
            </a:extLst>
          </p:cNvPr>
          <p:cNvSpPr/>
          <p:nvPr/>
        </p:nvSpPr>
        <p:spPr>
          <a:xfrm>
            <a:off x="6230568" y="846010"/>
            <a:ext cx="2799131" cy="77597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" name="Text 0"/>
          <p:cNvSpPr/>
          <p:nvPr/>
        </p:nvSpPr>
        <p:spPr>
          <a:xfrm>
            <a:off x="1674855" y="140873"/>
            <a:ext cx="5471740" cy="4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65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Diseño y Personalización</a:t>
            </a:r>
            <a:endParaRPr lang="es-AR" sz="2650" noProof="0" dirty="0"/>
          </a:p>
        </p:txBody>
      </p:sp>
      <p:sp>
        <p:nvSpPr>
          <p:cNvPr id="4" name="Text 1"/>
          <p:cNvSpPr/>
          <p:nvPr/>
        </p:nvSpPr>
        <p:spPr>
          <a:xfrm>
            <a:off x="164806" y="905786"/>
            <a:ext cx="2929830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Tema Astra + Astra Child</a:t>
            </a:r>
            <a:endParaRPr lang="es-AR" sz="1300" noProof="0" dirty="0"/>
          </a:p>
        </p:txBody>
      </p:sp>
      <p:sp>
        <p:nvSpPr>
          <p:cNvPr id="5" name="Text 2"/>
          <p:cNvSpPr/>
          <p:nvPr/>
        </p:nvSpPr>
        <p:spPr>
          <a:xfrm>
            <a:off x="213574" y="1118015"/>
            <a:ext cx="2663875" cy="1007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AR" sz="10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utilizó el tema Astra con un tema hijo (Astra Child) para permitir personalizaciones sin afectar el tema original, facilitando actualizaciones y mantenimiento.</a:t>
            </a:r>
            <a:endParaRPr lang="es-AR" sz="1000" noProof="0" dirty="0"/>
          </a:p>
        </p:txBody>
      </p:sp>
      <p:sp>
        <p:nvSpPr>
          <p:cNvPr id="6" name="Text 3"/>
          <p:cNvSpPr/>
          <p:nvPr/>
        </p:nvSpPr>
        <p:spPr>
          <a:xfrm>
            <a:off x="3485955" y="887498"/>
            <a:ext cx="2744614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Personalización Visual</a:t>
            </a:r>
            <a:endParaRPr lang="es-A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3392213" y="1146867"/>
            <a:ext cx="2663875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AR" sz="10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Diseño adaptado a la identidad institucional con ajustes de colores, tipografías y estructura visual.</a:t>
            </a:r>
            <a:endParaRPr lang="es-AR" sz="1000" noProof="0" dirty="0"/>
          </a:p>
        </p:txBody>
      </p:sp>
      <p:sp>
        <p:nvSpPr>
          <p:cNvPr id="8" name="Text 5"/>
          <p:cNvSpPr/>
          <p:nvPr/>
        </p:nvSpPr>
        <p:spPr>
          <a:xfrm>
            <a:off x="6516838" y="887497"/>
            <a:ext cx="235289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Diseño Responsive</a:t>
            </a:r>
            <a:endParaRPr lang="es-AR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6309574" y="1146867"/>
            <a:ext cx="2663875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s-AR" sz="100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Sitio adaptado para visualización correcta en distintos dispositivos y tamaños de pantalla.</a:t>
            </a:r>
            <a:endParaRPr lang="es-AR" sz="10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A32D49C-9CBD-87E1-6E43-E209331E5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594" y="4526573"/>
            <a:ext cx="2141406" cy="54868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2E9784C-F10C-5225-BCFC-26AFCEBBD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747" y="2029001"/>
            <a:ext cx="2793341" cy="267724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339E4C5-29CE-B1DA-1BD9-68CEE300E4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632" y="2035017"/>
            <a:ext cx="2091757" cy="281621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5DEA1CD-2178-ED93-D1EA-4072C42A81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50385" y="2029001"/>
            <a:ext cx="2712643" cy="2655101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D34A7948-CC30-108C-759F-756B22C663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686"/>
    </mc:Choice>
    <mc:Fallback xmlns="">
      <p:transition spd="slow" advTm="32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7297" y="74504"/>
            <a:ext cx="3995663" cy="41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6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Dominio y Hosting</a:t>
            </a:r>
            <a:endParaRPr lang="es-AR" sz="2600" noProof="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779" y="633279"/>
            <a:ext cx="3099006" cy="7593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0896" y="708899"/>
            <a:ext cx="197011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Compra del Dominio</a:t>
            </a:r>
            <a:endParaRPr lang="es-AR" sz="1300" noProof="0" dirty="0"/>
          </a:p>
        </p:txBody>
      </p:sp>
      <p:sp>
        <p:nvSpPr>
          <p:cNvPr id="6" name="Text 2"/>
          <p:cNvSpPr/>
          <p:nvPr/>
        </p:nvSpPr>
        <p:spPr>
          <a:xfrm>
            <a:off x="561593" y="993324"/>
            <a:ext cx="2830338" cy="33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 del dominio propio para la publicación </a:t>
            </a:r>
          </a:p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oficial del sitio institucional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287" y="1623203"/>
            <a:ext cx="3099007" cy="7593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3240" y="1702376"/>
            <a:ext cx="1670372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Hosting </a:t>
            </a:r>
            <a:r>
              <a:rPr lang="es-AR" sz="1300" noProof="0" dirty="0" err="1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DonWeb</a:t>
            </a:r>
            <a:endParaRPr lang="es-AR" sz="1300" noProof="0" dirty="0"/>
          </a:p>
        </p:txBody>
      </p:sp>
      <p:sp>
        <p:nvSpPr>
          <p:cNvPr id="9" name="Text 4"/>
          <p:cNvSpPr/>
          <p:nvPr/>
        </p:nvSpPr>
        <p:spPr>
          <a:xfrm>
            <a:off x="560896" y="1948152"/>
            <a:ext cx="2787785" cy="4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 de hosting contratado en </a:t>
            </a:r>
            <a:r>
              <a:rPr lang="es-AR" sz="950" b="1" noProof="0" dirty="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DonWeb</a:t>
            </a: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</a:t>
            </a:r>
          </a:p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alojar el sitio web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298" y="2643024"/>
            <a:ext cx="3109487" cy="872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3240" y="2798255"/>
            <a:ext cx="2199903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Configuración HTTPS</a:t>
            </a:r>
            <a:endParaRPr lang="es-AR" sz="1300" noProof="0" dirty="0"/>
          </a:p>
        </p:txBody>
      </p:sp>
      <p:sp>
        <p:nvSpPr>
          <p:cNvPr id="12" name="Text 6"/>
          <p:cNvSpPr/>
          <p:nvPr/>
        </p:nvSpPr>
        <p:spPr>
          <a:xfrm>
            <a:off x="560896" y="3078136"/>
            <a:ext cx="2494947" cy="40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Implementación del protocolo HTTPS para </a:t>
            </a:r>
          </a:p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garantizar la seguridad del sitio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941" y="3874107"/>
            <a:ext cx="3121844" cy="95614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307" y="3948048"/>
            <a:ext cx="1998836" cy="208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3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Publicación del Sitio</a:t>
            </a:r>
            <a:endParaRPr lang="es-AR" sz="1300" noProof="0" dirty="0"/>
          </a:p>
        </p:txBody>
      </p:sp>
      <p:sp>
        <p:nvSpPr>
          <p:cNvPr id="15" name="Text 8"/>
          <p:cNvSpPr/>
          <p:nvPr/>
        </p:nvSpPr>
        <p:spPr>
          <a:xfrm>
            <a:off x="560896" y="4279955"/>
            <a:ext cx="2714808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Puesta en línea del sitio web institucional</a:t>
            </a:r>
          </a:p>
          <a:p>
            <a:pPr marL="0" indent="0" algn="l">
              <a:lnSpc>
                <a:spcPct val="129000"/>
              </a:lnSpc>
              <a:buNone/>
            </a:pPr>
            <a:r>
              <a:rPr lang="es-AR" sz="9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accesible desde cualquier navegador</a:t>
            </a:r>
            <a:r>
              <a:rPr lang="es-AR" sz="9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950" noProof="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409CE49-4281-7FBB-D57D-D95A0C769F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4082" y="4524152"/>
            <a:ext cx="1828958" cy="54106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66AFBF2-268A-F58A-D11B-C286207D413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149" y="541940"/>
            <a:ext cx="2482607" cy="140621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C766BC9-CE34-5F79-2FCB-82C8A0501EA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397" y="508793"/>
            <a:ext cx="2486420" cy="141572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B8FEF32-26AC-EAEE-571A-55B422F4395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148" y="2643024"/>
            <a:ext cx="2482607" cy="141572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DED61B03-E12B-14C6-540A-AD1505CB62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397" y="2624917"/>
            <a:ext cx="2486420" cy="1433833"/>
          </a:xfrm>
          <a:prstGeom prst="rect">
            <a:avLst/>
          </a:prstGeom>
        </p:spPr>
      </p:pic>
      <p:pic>
        <p:nvPicPr>
          <p:cNvPr id="45" name="Audio 44">
            <a:hlinkClick r:id="" action="ppaction://media"/>
            <a:extLst>
              <a:ext uri="{FF2B5EF4-FFF2-40B4-BE49-F238E27FC236}">
                <a16:creationId xmlns:a16="http://schemas.microsoft.com/office/drawing/2014/main" id="{09B3680F-D0C0-6D70-B7D1-595C3B985A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50"/>
    </mc:Choice>
    <mc:Fallback xmlns="">
      <p:transition spd="slow" advTm="252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2D8428A0-3DA4-1E38-82AB-F6DAB9E97071}"/>
              </a:ext>
            </a:extLst>
          </p:cNvPr>
          <p:cNvSpPr/>
          <p:nvPr/>
        </p:nvSpPr>
        <p:spPr>
          <a:xfrm>
            <a:off x="3157637" y="1296925"/>
            <a:ext cx="2527207" cy="3220989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500C0FB6-C9B3-EFDE-2755-A649ACF60CAC}"/>
              </a:ext>
            </a:extLst>
          </p:cNvPr>
          <p:cNvSpPr/>
          <p:nvPr/>
        </p:nvSpPr>
        <p:spPr>
          <a:xfrm>
            <a:off x="250780" y="1216984"/>
            <a:ext cx="2527208" cy="3281819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FEAAB07-7FD0-AC19-996F-83491FB32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123" y="4517914"/>
            <a:ext cx="1828958" cy="541067"/>
          </a:xfrm>
          <a:prstGeom prst="rect">
            <a:avLst/>
          </a:prstGeom>
        </p:spPr>
      </p:pic>
      <p:sp>
        <p:nvSpPr>
          <p:cNvPr id="19" name="Shape 2">
            <a:extLst>
              <a:ext uri="{FF2B5EF4-FFF2-40B4-BE49-F238E27FC236}">
                <a16:creationId xmlns:a16="http://schemas.microsoft.com/office/drawing/2014/main" id="{FA0FBD83-2B41-2E2E-6B7E-C43F8B3CDC3F}"/>
              </a:ext>
            </a:extLst>
          </p:cNvPr>
          <p:cNvSpPr/>
          <p:nvPr/>
        </p:nvSpPr>
        <p:spPr>
          <a:xfrm>
            <a:off x="5860770" y="3526867"/>
            <a:ext cx="2925089" cy="1120618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BB115D29-3C0F-86E3-11AA-FD4E9498DF16}"/>
              </a:ext>
            </a:extLst>
          </p:cNvPr>
          <p:cNvSpPr/>
          <p:nvPr/>
        </p:nvSpPr>
        <p:spPr>
          <a:xfrm>
            <a:off x="5860770" y="2309035"/>
            <a:ext cx="2925089" cy="1120618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0A296F46-255C-0A64-3969-18DEB28B6546}"/>
              </a:ext>
            </a:extLst>
          </p:cNvPr>
          <p:cNvSpPr/>
          <p:nvPr/>
        </p:nvSpPr>
        <p:spPr>
          <a:xfrm>
            <a:off x="5860770" y="1142759"/>
            <a:ext cx="2925089" cy="1120618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" name="Text 0"/>
          <p:cNvSpPr/>
          <p:nvPr/>
        </p:nvSpPr>
        <p:spPr>
          <a:xfrm>
            <a:off x="1449303" y="111769"/>
            <a:ext cx="5676230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8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Integración de </a:t>
            </a:r>
            <a:r>
              <a:rPr lang="es-AR" sz="2800" noProof="0" dirty="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Chatwoot</a:t>
            </a:r>
            <a:endParaRPr lang="es-AR" sz="2800" noProof="0" dirty="0"/>
          </a:p>
        </p:txBody>
      </p:sp>
      <p:sp>
        <p:nvSpPr>
          <p:cNvPr id="4" name="Text 1"/>
          <p:cNvSpPr/>
          <p:nvPr/>
        </p:nvSpPr>
        <p:spPr>
          <a:xfrm>
            <a:off x="6020916" y="1255291"/>
            <a:ext cx="303468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Widget de Comunicación</a:t>
            </a:r>
            <a:endParaRPr lang="es-AR" sz="1400" noProof="0" dirty="0"/>
          </a:p>
        </p:txBody>
      </p:sp>
      <p:sp>
        <p:nvSpPr>
          <p:cNvPr id="5" name="Text 2"/>
          <p:cNvSpPr/>
          <p:nvPr/>
        </p:nvSpPr>
        <p:spPr>
          <a:xfrm>
            <a:off x="6020916" y="1613297"/>
            <a:ext cx="265382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del widget de </a:t>
            </a:r>
            <a:r>
              <a:rPr lang="es-AR" sz="1050" noProof="0" dirty="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Chatwoot</a:t>
            </a: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el sitio web para permitir la comunicación directa con los usuarios.</a:t>
            </a:r>
            <a:endParaRPr lang="es-AR" sz="1050" noProof="0" dirty="0"/>
          </a:p>
        </p:txBody>
      </p:sp>
      <p:sp>
        <p:nvSpPr>
          <p:cNvPr id="6" name="Text 3"/>
          <p:cNvSpPr/>
          <p:nvPr/>
        </p:nvSpPr>
        <p:spPr>
          <a:xfrm>
            <a:off x="6020916" y="2398737"/>
            <a:ext cx="308416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Configuración de Scripts</a:t>
            </a:r>
            <a:endParaRPr lang="es-AR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6020916" y="2756743"/>
            <a:ext cx="265382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configuraron los scripts necesarios para la correcta integración del widget en el sitio WordPress.</a:t>
            </a:r>
            <a:endParaRPr lang="es-A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6020916" y="3542184"/>
            <a:ext cx="257323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Atención a Usuarios</a:t>
            </a:r>
            <a:endParaRPr lang="es-A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020916" y="3900190"/>
            <a:ext cx="265382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 que facilita la atención y el seguimiento de consultas de los visitantes del sitio.</a:t>
            </a:r>
            <a:endParaRPr lang="es-AR" sz="1050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E3FFAF7-0973-A36B-3D31-8F5BCE217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211" y="1387223"/>
            <a:ext cx="2225658" cy="294134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B5CCAF1-0BEA-5F51-BCCB-0B0D4B165E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693" y="1436747"/>
            <a:ext cx="2034066" cy="2941343"/>
          </a:xfrm>
          <a:prstGeom prst="rect">
            <a:avLst/>
          </a:prstGeom>
        </p:spPr>
      </p:pic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604C4376-0AAF-66F1-28CF-098534795A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88"/>
    </mc:Choice>
    <mc:Fallback xmlns="">
      <p:transition spd="slow" advTm="211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3D1CFA2F-87E5-1AE1-4457-D6C15E25C8BF}"/>
              </a:ext>
            </a:extLst>
          </p:cNvPr>
          <p:cNvSpPr/>
          <p:nvPr/>
        </p:nvSpPr>
        <p:spPr>
          <a:xfrm>
            <a:off x="237034" y="3106717"/>
            <a:ext cx="3528851" cy="766138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66DA16B5-0DA8-206E-958C-F161517EA92E}"/>
              </a:ext>
            </a:extLst>
          </p:cNvPr>
          <p:cNvSpPr/>
          <p:nvPr/>
        </p:nvSpPr>
        <p:spPr>
          <a:xfrm>
            <a:off x="237035" y="1640284"/>
            <a:ext cx="3528850" cy="772575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3ACD4332-0FFC-CDDC-3E66-2ACFDD88D21D}"/>
              </a:ext>
            </a:extLst>
          </p:cNvPr>
          <p:cNvSpPr/>
          <p:nvPr/>
        </p:nvSpPr>
        <p:spPr>
          <a:xfrm>
            <a:off x="206104" y="4168279"/>
            <a:ext cx="3555195" cy="766138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C93F43DB-E17A-EF9F-5146-DCA35878E888}"/>
              </a:ext>
            </a:extLst>
          </p:cNvPr>
          <p:cNvSpPr/>
          <p:nvPr/>
        </p:nvSpPr>
        <p:spPr>
          <a:xfrm>
            <a:off x="252800" y="624058"/>
            <a:ext cx="3513084" cy="766139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FB3D615-7C32-B3D9-9753-AD3D99FB4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738" y="4551348"/>
            <a:ext cx="1828958" cy="54106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441683" y="149646"/>
            <a:ext cx="5701903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8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GitHub y Automatización</a:t>
            </a:r>
            <a:endParaRPr lang="es-AR" sz="2800" noProof="0" dirty="0"/>
          </a:p>
        </p:txBody>
      </p:sp>
      <p:sp>
        <p:nvSpPr>
          <p:cNvPr id="4" name="Text 1"/>
          <p:cNvSpPr/>
          <p:nvPr/>
        </p:nvSpPr>
        <p:spPr>
          <a:xfrm>
            <a:off x="609302" y="676275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GitHub</a:t>
            </a:r>
            <a:endParaRPr lang="es-AR" sz="1400" noProof="0" dirty="0"/>
          </a:p>
        </p:txBody>
      </p:sp>
      <p:sp>
        <p:nvSpPr>
          <p:cNvPr id="5" name="Text 2"/>
          <p:cNvSpPr/>
          <p:nvPr/>
        </p:nvSpPr>
        <p:spPr>
          <a:xfrm>
            <a:off x="477329" y="913045"/>
            <a:ext cx="3102066" cy="477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Repositorio central para el control de versiones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05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proyecto</a:t>
            </a: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s-AR" sz="1050" noProof="0" dirty="0"/>
          </a:p>
        </p:txBody>
      </p:sp>
      <p:sp>
        <p:nvSpPr>
          <p:cNvPr id="7" name="Text 3"/>
          <p:cNvSpPr/>
          <p:nvPr/>
        </p:nvSpPr>
        <p:spPr>
          <a:xfrm>
            <a:off x="656721" y="1640284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pre-push.sh</a:t>
            </a:r>
            <a:endParaRPr lang="es-AR" sz="1400" noProof="0" dirty="0"/>
          </a:p>
        </p:txBody>
      </p:sp>
      <p:sp>
        <p:nvSpPr>
          <p:cNvPr id="8" name="Text 4"/>
          <p:cNvSpPr/>
          <p:nvPr/>
        </p:nvSpPr>
        <p:spPr>
          <a:xfrm>
            <a:off x="477329" y="1846123"/>
            <a:ext cx="299979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Script que se ejecuta automáticamente antes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cada </a:t>
            </a:r>
            <a:r>
              <a:rPr lang="es-AR" sz="1050" noProof="0" dirty="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push</a:t>
            </a: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 repositorio.</a:t>
            </a:r>
            <a:endParaRPr lang="es-AR" sz="1050" noProof="0" dirty="0"/>
          </a:p>
        </p:txBody>
      </p:sp>
      <p:sp>
        <p:nvSpPr>
          <p:cNvPr id="10" name="Text 5"/>
          <p:cNvSpPr/>
          <p:nvPr/>
        </p:nvSpPr>
        <p:spPr>
          <a:xfrm>
            <a:off x="656721" y="319020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deploy-ftp.sh</a:t>
            </a:r>
            <a:endParaRPr lang="es-AR" sz="1400" noProof="0" dirty="0"/>
          </a:p>
        </p:txBody>
      </p:sp>
      <p:sp>
        <p:nvSpPr>
          <p:cNvPr id="11" name="Text 6"/>
          <p:cNvSpPr/>
          <p:nvPr/>
        </p:nvSpPr>
        <p:spPr>
          <a:xfrm>
            <a:off x="465296" y="3355803"/>
            <a:ext cx="3114099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Script de automatización para el despliegue de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archivos vía FTP al servidor.</a:t>
            </a:r>
            <a:endParaRPr lang="es-AR" sz="1050" noProof="0" dirty="0"/>
          </a:p>
        </p:txBody>
      </p:sp>
      <p:sp>
        <p:nvSpPr>
          <p:cNvPr id="13" name="Text 7"/>
          <p:cNvSpPr/>
          <p:nvPr/>
        </p:nvSpPr>
        <p:spPr>
          <a:xfrm>
            <a:off x="656721" y="421545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CI/CD</a:t>
            </a:r>
            <a:endParaRPr lang="es-AR" sz="1400" noProof="0" dirty="0"/>
          </a:p>
        </p:txBody>
      </p:sp>
      <p:sp>
        <p:nvSpPr>
          <p:cNvPr id="14" name="Text 8"/>
          <p:cNvSpPr/>
          <p:nvPr/>
        </p:nvSpPr>
        <p:spPr>
          <a:xfrm>
            <a:off x="477329" y="4464321"/>
            <a:ext cx="2999797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y despliegue continuo para automatizar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1050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flujo de publicación.</a:t>
            </a:r>
            <a:endParaRPr lang="es-AR" sz="1050" noProof="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9910FAE-A7C7-7C30-CFB8-C5488F7630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413" y="691961"/>
            <a:ext cx="2292103" cy="174219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15AF275-1201-0101-4E6C-764225821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043" y="691961"/>
            <a:ext cx="2476711" cy="17482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40FF9B9-AD27-BA73-7C73-EC6A3D15B9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0413" y="2986810"/>
            <a:ext cx="2292102" cy="175873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E28E9C2-01B2-B792-2BA4-E13AE0C0C5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7043" y="2986810"/>
            <a:ext cx="2445781" cy="1768665"/>
          </a:xfrm>
          <a:prstGeom prst="rect">
            <a:avLst/>
          </a:prstGeom>
        </p:spPr>
      </p:pic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9957A075-2756-8DCF-76AE-5ECDBC407A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08306" t="-108306" r="-108306" b="-108306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95"/>
    </mc:Choice>
    <mc:Fallback xmlns="">
      <p:transition spd="slow" advTm="228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">
            <a:extLst>
              <a:ext uri="{FF2B5EF4-FFF2-40B4-BE49-F238E27FC236}">
                <a16:creationId xmlns:a16="http://schemas.microsoft.com/office/drawing/2014/main" id="{A15C0E58-BD2C-CB4A-8A98-CD22C8E922C3}"/>
              </a:ext>
            </a:extLst>
          </p:cNvPr>
          <p:cNvSpPr/>
          <p:nvPr/>
        </p:nvSpPr>
        <p:spPr>
          <a:xfrm>
            <a:off x="646433" y="3626071"/>
            <a:ext cx="5828561" cy="1436613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247E02-0010-22A1-4FEF-8F79F1D96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055" y="4593844"/>
            <a:ext cx="1828958" cy="541067"/>
          </a:xfrm>
          <a:prstGeom prst="rect">
            <a:avLst/>
          </a:prstGeom>
        </p:spPr>
      </p:pic>
      <p:sp>
        <p:nvSpPr>
          <p:cNvPr id="34" name="Shape 2">
            <a:extLst>
              <a:ext uri="{FF2B5EF4-FFF2-40B4-BE49-F238E27FC236}">
                <a16:creationId xmlns:a16="http://schemas.microsoft.com/office/drawing/2014/main" id="{B137AEDB-53D0-8AC1-8BB1-DA906F4D1743}"/>
              </a:ext>
            </a:extLst>
          </p:cNvPr>
          <p:cNvSpPr/>
          <p:nvPr/>
        </p:nvSpPr>
        <p:spPr>
          <a:xfrm>
            <a:off x="6951391" y="3535350"/>
            <a:ext cx="1828958" cy="1527334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8A08B9CC-A4ED-556D-D774-B62A2C6A05C6}"/>
              </a:ext>
            </a:extLst>
          </p:cNvPr>
          <p:cNvSpPr/>
          <p:nvPr/>
        </p:nvSpPr>
        <p:spPr>
          <a:xfrm>
            <a:off x="4574126" y="1008975"/>
            <a:ext cx="2274182" cy="2259289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406B678D-26F8-F502-A0BF-0C6A686940F2}"/>
              </a:ext>
            </a:extLst>
          </p:cNvPr>
          <p:cNvSpPr/>
          <p:nvPr/>
        </p:nvSpPr>
        <p:spPr>
          <a:xfrm>
            <a:off x="246914" y="1066464"/>
            <a:ext cx="3932858" cy="2201801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2" name="Text 0"/>
          <p:cNvSpPr/>
          <p:nvPr/>
        </p:nvSpPr>
        <p:spPr>
          <a:xfrm>
            <a:off x="772597" y="277601"/>
            <a:ext cx="7314828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28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Estado Actual y Mejoras Futuras</a:t>
            </a:r>
            <a:endParaRPr lang="es-A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11746" y="1197713"/>
            <a:ext cx="223889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400" noProof="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✅</a:t>
            </a:r>
            <a:r>
              <a:rPr lang="es-AR" sz="1400" noProof="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Finalizado</a:t>
            </a:r>
            <a:endParaRPr lang="es-AR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350131" y="1448083"/>
            <a:ext cx="3857253" cy="1871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Sitio web institucional en WordPress</a:t>
            </a:r>
            <a:endParaRPr lang="es-AR" sz="1200" b="1" noProof="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Publicado con dominio propio y hosting </a:t>
            </a:r>
            <a:r>
              <a:rPr lang="es-AR" sz="1200" b="1" noProof="0" dirty="0" err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DonWeb</a:t>
            </a:r>
            <a:endParaRPr lang="es-AR" sz="1200" b="1" noProof="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de </a:t>
            </a:r>
            <a:r>
              <a:rPr lang="es-AR" sz="1200" b="1" noProof="0" dirty="0" err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Chatwoot</a:t>
            </a:r>
            <a:r>
              <a:rPr lang="es-AR" sz="1200" b="1" noProof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atención de usuarios</a:t>
            </a:r>
            <a:endParaRPr lang="es-AR" sz="1200" b="1" noProof="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de versiones con GitHub</a:t>
            </a:r>
            <a:endParaRPr lang="es-AR" sz="1200" b="1" noProof="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Automatización mediante CI/CD</a:t>
            </a:r>
            <a:endParaRPr lang="es-AR" sz="1200" b="1" noProof="0" dirty="0"/>
          </a:p>
        </p:txBody>
      </p:sp>
      <p:sp>
        <p:nvSpPr>
          <p:cNvPr id="6" name="Text 4"/>
          <p:cNvSpPr/>
          <p:nvPr/>
        </p:nvSpPr>
        <p:spPr>
          <a:xfrm>
            <a:off x="4917222" y="1099125"/>
            <a:ext cx="2238896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AR" sz="1600" b="1" noProof="0" dirty="0">
                <a:solidFill>
                  <a:schemeClr val="bg1"/>
                </a:solidFill>
                <a:latin typeface="DM Sans" pitchFamily="2" charset="0"/>
              </a:rPr>
              <a:t>Mejoras Futuras</a:t>
            </a:r>
          </a:p>
        </p:txBody>
      </p:sp>
      <p:sp>
        <p:nvSpPr>
          <p:cNvPr id="7" name="Text 5"/>
          <p:cNvSpPr/>
          <p:nvPr/>
        </p:nvSpPr>
        <p:spPr>
          <a:xfrm>
            <a:off x="4601738" y="1614696"/>
            <a:ext cx="2160304" cy="1538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Migración a </a:t>
            </a:r>
            <a:r>
              <a:rPr lang="es-AR" sz="1200" b="1" noProof="0" dirty="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endParaRPr lang="es-AR" sz="1200" b="1" noProof="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Optimización SEO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s-AR" sz="1200" b="1" noProof="0" dirty="0">
                <a:solidFill>
                  <a:srgbClr val="FFE5E5"/>
                </a:solidFill>
                <a:latin typeface="DM Sans" pitchFamily="34" charset="0"/>
              </a:rPr>
              <a:t>Nuevas funcionalidades para usuarios</a:t>
            </a:r>
            <a:endParaRPr lang="es-AR" sz="1200" b="1" noProof="0" dirty="0"/>
          </a:p>
        </p:txBody>
      </p:sp>
      <p:sp>
        <p:nvSpPr>
          <p:cNvPr id="8" name="Shape 6"/>
          <p:cNvSpPr/>
          <p:nvPr/>
        </p:nvSpPr>
        <p:spPr>
          <a:xfrm>
            <a:off x="1671230" y="3424851"/>
            <a:ext cx="3932858" cy="16892"/>
          </a:xfrm>
          <a:prstGeom prst="roundRect">
            <a:avLst>
              <a:gd name="adj" fmla="val 336691"/>
            </a:avLst>
          </a:prstGeom>
          <a:solidFill>
            <a:srgbClr val="FFE5E5">
              <a:alpha val="50000"/>
            </a:srgbClr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FF10C40-A63C-BA8E-C614-C5D10FB01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592" y="3747268"/>
            <a:ext cx="1390556" cy="1186361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79E27567-4869-15FF-67F0-613BDE64916C}"/>
              </a:ext>
            </a:extLst>
          </p:cNvPr>
          <p:cNvSpPr/>
          <p:nvPr/>
        </p:nvSpPr>
        <p:spPr>
          <a:xfrm>
            <a:off x="923019" y="3709107"/>
            <a:ext cx="5270718" cy="126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s-AR" sz="2000" b="1" noProof="0" dirty="0" err="1">
                <a:solidFill>
                  <a:srgbClr val="FFE5E5"/>
                </a:solidFill>
                <a:latin typeface="DM Sans" pitchFamily="34" charset="0"/>
              </a:rPr>
              <a:t>Escaneá</a:t>
            </a:r>
            <a:r>
              <a:rPr lang="es-AR" sz="2000" b="1" noProof="0" dirty="0">
                <a:solidFill>
                  <a:srgbClr val="FFE5E5"/>
                </a:solidFill>
                <a:latin typeface="DM Sans" pitchFamily="34" charset="0"/>
              </a:rPr>
              <a:t> el QR y visita nuestra página web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s-AR" sz="2000" b="1" noProof="0" dirty="0">
                <a:solidFill>
                  <a:srgbClr val="FFE5E5"/>
                </a:solidFill>
                <a:latin typeface="DM Sans" pitchFamily="34" charset="0"/>
              </a:rPr>
              <a:t>O ingresa a:</a:t>
            </a:r>
          </a:p>
          <a:p>
            <a:pPr>
              <a:lnSpc>
                <a:spcPct val="133000"/>
              </a:lnSpc>
            </a:pPr>
            <a:r>
              <a:rPr lang="es-AR" sz="2400" b="1" noProof="0" dirty="0">
                <a:solidFill>
                  <a:schemeClr val="bg1">
                    <a:lumMod val="95000"/>
                  </a:schemeClr>
                </a:solidFill>
              </a:rPr>
              <a:t>               https://isftn199.com.ar</a:t>
            </a:r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B820C43D-0B54-6CBB-3543-AA4C43C5B1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08306" t="-108306" r="-108306" b="-108306"/>
          <a:stretch>
            <a:fillRect/>
          </a:stretch>
        </p:blipFill>
        <p:spPr>
          <a:xfrm>
            <a:off x="5792395" y="3807442"/>
            <a:ext cx="1543050" cy="1543050"/>
          </a:xfrm>
          <a:prstGeom prst="ellipse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A7C09ECC-6EE9-C8D8-F946-4ADFAA3DCF8F}"/>
              </a:ext>
            </a:extLst>
          </p:cNvPr>
          <p:cNvSpPr/>
          <p:nvPr/>
        </p:nvSpPr>
        <p:spPr>
          <a:xfrm>
            <a:off x="7068553" y="1651698"/>
            <a:ext cx="1725316" cy="1724317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26BB6C2-E90C-8031-AD4D-3779343BDC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2662" y="1831277"/>
            <a:ext cx="1388433" cy="1388433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FBC72BA0-9A74-06F6-7975-C8C78E1554F6}"/>
              </a:ext>
            </a:extLst>
          </p:cNvPr>
          <p:cNvSpPr/>
          <p:nvPr/>
        </p:nvSpPr>
        <p:spPr>
          <a:xfrm>
            <a:off x="7105138" y="1283872"/>
            <a:ext cx="1537687" cy="328422"/>
          </a:xfrm>
          <a:prstGeom prst="roundRect">
            <a:avLst>
              <a:gd name="adj" fmla="val 17883"/>
            </a:avLst>
          </a:prstGeom>
          <a:solidFill>
            <a:srgbClr val="460707"/>
          </a:solidFill>
          <a:ln/>
        </p:spPr>
        <p:txBody>
          <a:bodyPr/>
          <a:lstStyle/>
          <a:p>
            <a:pPr algn="ctr">
              <a:lnSpc>
                <a:spcPct val="133000"/>
              </a:lnSpc>
              <a:buSzPct val="100000"/>
            </a:pPr>
            <a:r>
              <a:rPr lang="es-AR" sz="12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GitHub-Informe</a:t>
            </a:r>
            <a:endParaRPr lang="es-AR" sz="1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62"/>
    </mc:Choice>
    <mc:Fallback xmlns="">
      <p:transition spd="slow" advTm="19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9131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483</Words>
  <Application>Microsoft Office PowerPoint</Application>
  <PresentationFormat>Presentación en pantalla (16:9)</PresentationFormat>
  <Paragraphs>99</Paragraphs>
  <Slides>8</Slides>
  <Notes>8</Notes>
  <HiddenSlides>0</HiddenSlides>
  <MMClips>8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Dela Gothic One</vt:lpstr>
      <vt:lpstr>DM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lastModifiedBy>SoL Areco</cp:lastModifiedBy>
  <cp:revision>9</cp:revision>
  <dcterms:created xsi:type="dcterms:W3CDTF">2026-06-21T17:13:22Z</dcterms:created>
  <dcterms:modified xsi:type="dcterms:W3CDTF">2026-07-01T23:37:05Z</dcterms:modified>
</cp:coreProperties>
</file>